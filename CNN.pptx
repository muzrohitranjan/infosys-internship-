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3"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4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2/26/2026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D0ECBB-FF76-7D21-3CBA-6CCAD110871C}"/>
              </a:ext>
            </a:extLst>
          </p:cNvPr>
          <p:cNvSpPr txBox="1"/>
          <p:nvPr/>
        </p:nvSpPr>
        <p:spPr>
          <a:xfrm>
            <a:off x="2441448" y="484632"/>
            <a:ext cx="7900416" cy="892552"/>
          </a:xfrm>
          <a:prstGeom prst="rect">
            <a:avLst/>
          </a:prstGeom>
          <a:noFill/>
        </p:spPr>
        <p:txBody>
          <a:bodyPr wrap="square">
            <a:spAutoFit/>
          </a:bodyPr>
          <a:lstStyle/>
          <a:p>
            <a:pPr>
              <a:buNone/>
            </a:pPr>
            <a:r>
              <a:rPr lang="en-US" sz="2400" b="1" dirty="0"/>
              <a:t>Understanding Convolutional Neural Networks (CNNs</a:t>
            </a:r>
            <a:r>
              <a:rPr lang="en-US" sz="1400" b="1" dirty="0"/>
              <a:t>)</a:t>
            </a:r>
            <a:endParaRPr lang="en-US" sz="1400" dirty="0"/>
          </a:p>
          <a:p>
            <a:pPr>
              <a:buNone/>
            </a:pPr>
            <a:r>
              <a:rPr lang="en-US" i="1" dirty="0"/>
              <a:t>      </a:t>
            </a:r>
            <a:r>
              <a:rPr lang="en-US" sz="2800" i="1" dirty="0"/>
              <a:t>A Deep Dive into Architecture and Training</a:t>
            </a:r>
            <a:endParaRPr lang="en-US" dirty="0"/>
          </a:p>
        </p:txBody>
      </p:sp>
      <p:pic>
        <p:nvPicPr>
          <p:cNvPr id="7" name="Picture 6">
            <a:extLst>
              <a:ext uri="{FF2B5EF4-FFF2-40B4-BE49-F238E27FC236}">
                <a16:creationId xmlns:a16="http://schemas.microsoft.com/office/drawing/2014/main" id="{C26BC8E2-4B13-3F37-76F8-603304EFBCB2}"/>
              </a:ext>
            </a:extLst>
          </p:cNvPr>
          <p:cNvPicPr>
            <a:picLocks noChangeAspect="1"/>
          </p:cNvPicPr>
          <p:nvPr/>
        </p:nvPicPr>
        <p:blipFill>
          <a:blip r:embed="rId2"/>
          <a:stretch>
            <a:fillRect/>
          </a:stretch>
        </p:blipFill>
        <p:spPr>
          <a:xfrm>
            <a:off x="10237470" y="-155448"/>
            <a:ext cx="2442972" cy="1628648"/>
          </a:xfrm>
          <a:prstGeom prst="rect">
            <a:avLst/>
          </a:prstGeom>
        </p:spPr>
      </p:pic>
      <p:sp>
        <p:nvSpPr>
          <p:cNvPr id="9" name="TextBox 8">
            <a:extLst>
              <a:ext uri="{FF2B5EF4-FFF2-40B4-BE49-F238E27FC236}">
                <a16:creationId xmlns:a16="http://schemas.microsoft.com/office/drawing/2014/main" id="{3FC78EF1-B103-D189-5115-C9550C0820E6}"/>
              </a:ext>
            </a:extLst>
          </p:cNvPr>
          <p:cNvSpPr txBox="1"/>
          <p:nvPr/>
        </p:nvSpPr>
        <p:spPr>
          <a:xfrm>
            <a:off x="2555748" y="4860143"/>
            <a:ext cx="4439412" cy="923330"/>
          </a:xfrm>
          <a:prstGeom prst="rect">
            <a:avLst/>
          </a:prstGeom>
          <a:noFill/>
        </p:spPr>
        <p:txBody>
          <a:bodyPr wrap="square">
            <a:spAutoFit/>
          </a:bodyPr>
          <a:lstStyle/>
          <a:p>
            <a:pPr>
              <a:buNone/>
            </a:pPr>
            <a:r>
              <a:rPr lang="en-US" dirty="0"/>
              <a:t>Presented By: </a:t>
            </a:r>
            <a:r>
              <a:rPr lang="en-US" b="1" dirty="0"/>
              <a:t>Rohit Ranjan</a:t>
            </a:r>
            <a:endParaRPr lang="en-US" dirty="0"/>
          </a:p>
          <a:p>
            <a:pPr>
              <a:buNone/>
            </a:pPr>
            <a:r>
              <a:rPr lang="en-US" dirty="0"/>
              <a:t>Course: Artificial Intelligence / Deep Learning</a:t>
            </a:r>
            <a:br>
              <a:rPr lang="en-US" dirty="0"/>
            </a:br>
            <a:r>
              <a:rPr lang="en-US" dirty="0"/>
              <a:t>Date: 27 February 2026</a:t>
            </a:r>
          </a:p>
        </p:txBody>
      </p:sp>
      <p:sp>
        <p:nvSpPr>
          <p:cNvPr id="11" name="TextBox 10">
            <a:extLst>
              <a:ext uri="{FF2B5EF4-FFF2-40B4-BE49-F238E27FC236}">
                <a16:creationId xmlns:a16="http://schemas.microsoft.com/office/drawing/2014/main" id="{11D243C0-9F2E-2B4E-1263-E065A2EBFD80}"/>
              </a:ext>
            </a:extLst>
          </p:cNvPr>
          <p:cNvSpPr txBox="1"/>
          <p:nvPr/>
        </p:nvSpPr>
        <p:spPr>
          <a:xfrm>
            <a:off x="3172968" y="2867191"/>
            <a:ext cx="7045452" cy="461665"/>
          </a:xfrm>
          <a:prstGeom prst="rect">
            <a:avLst/>
          </a:prstGeom>
          <a:noFill/>
        </p:spPr>
        <p:txBody>
          <a:bodyPr wrap="square">
            <a:spAutoFit/>
          </a:bodyPr>
          <a:lstStyle/>
          <a:p>
            <a:r>
              <a:rPr lang="en-US" sz="2400" dirty="0">
                <a:solidFill>
                  <a:schemeClr val="bg1"/>
                </a:solidFill>
              </a:rPr>
              <a:t>Exploring How Machines Understand Images</a:t>
            </a:r>
            <a:endParaRPr lang="en-IN" sz="2400" dirty="0">
              <a:solidFill>
                <a:schemeClr val="bg1"/>
              </a:solidFill>
            </a:endParaRPr>
          </a:p>
        </p:txBody>
      </p:sp>
    </p:spTree>
    <p:extLst>
      <p:ext uri="{BB962C8B-B14F-4D97-AF65-F5344CB8AC3E}">
        <p14:creationId xmlns:p14="http://schemas.microsoft.com/office/powerpoint/2010/main" val="2501732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BA829C-3628-C287-55F6-3CCB2E1CB408}"/>
              </a:ext>
            </a:extLst>
          </p:cNvPr>
          <p:cNvSpPr txBox="1"/>
          <p:nvPr/>
        </p:nvSpPr>
        <p:spPr>
          <a:xfrm>
            <a:off x="1362456" y="474345"/>
            <a:ext cx="9208008" cy="5909310"/>
          </a:xfrm>
          <a:prstGeom prst="rect">
            <a:avLst/>
          </a:prstGeom>
          <a:noFill/>
        </p:spPr>
        <p:txBody>
          <a:bodyPr wrap="square">
            <a:spAutoFit/>
          </a:bodyPr>
          <a:lstStyle/>
          <a:p>
            <a:pPr>
              <a:buNone/>
            </a:pPr>
            <a:r>
              <a:rPr lang="en-US" b="1" dirty="0"/>
              <a:t>What is CNN? &amp; Technologies Used</a:t>
            </a:r>
          </a:p>
          <a:p>
            <a:pPr>
              <a:buNone/>
            </a:pPr>
            <a:endParaRPr lang="en-US" b="1" dirty="0"/>
          </a:p>
          <a:p>
            <a:pPr>
              <a:buNone/>
            </a:pPr>
            <a:r>
              <a:rPr lang="en-US" b="1" dirty="0">
                <a:solidFill>
                  <a:schemeClr val="bg1"/>
                </a:solidFill>
              </a:rPr>
              <a:t>What is CNN?</a:t>
            </a:r>
          </a:p>
          <a:p>
            <a:pPr>
              <a:buNone/>
            </a:pPr>
            <a:endParaRPr lang="en-US" b="1" dirty="0"/>
          </a:p>
          <a:p>
            <a:pPr>
              <a:buNone/>
            </a:pPr>
            <a:r>
              <a:rPr lang="en-US" dirty="0"/>
              <a:t>A Convolutional Neural Network (CNN) is a type of deep learning algorithm designed specifically for processing image data. It automatically learns important visual features such as edges, textures, and shapes directly from images. Unlike traditional neural networks, CNNs use special layers that preserve spatial relationships between pixels, which makes them highly effective for tasks like image classification and object detection.</a:t>
            </a:r>
          </a:p>
          <a:p>
            <a:pPr>
              <a:buNone/>
            </a:pPr>
            <a:r>
              <a:rPr lang="en-US" dirty="0"/>
              <a:t>CNNs are widely used in applications such as facial recognition, medical image analysis, autonomous vehicles, and object detection systems.</a:t>
            </a:r>
          </a:p>
          <a:p>
            <a:pPr>
              <a:buNone/>
            </a:pPr>
            <a:br>
              <a:rPr lang="en-US" dirty="0"/>
            </a:br>
            <a:endParaRPr lang="en-US" dirty="0"/>
          </a:p>
          <a:p>
            <a:pPr>
              <a:buNone/>
            </a:pPr>
            <a:endParaRPr lang="en-US" dirty="0">
              <a:solidFill>
                <a:schemeClr val="bg1"/>
              </a:solidFill>
            </a:endParaRPr>
          </a:p>
          <a:p>
            <a:pPr>
              <a:buNone/>
            </a:pPr>
            <a:r>
              <a:rPr lang="en-US" b="1" dirty="0">
                <a:solidFill>
                  <a:schemeClr val="bg1"/>
                </a:solidFill>
              </a:rPr>
              <a:t>Technologies Used in CNN</a:t>
            </a:r>
          </a:p>
          <a:p>
            <a:pPr>
              <a:buNone/>
            </a:pPr>
            <a:endParaRPr lang="en-US" b="1" dirty="0"/>
          </a:p>
          <a:p>
            <a:pPr>
              <a:buNone/>
            </a:pPr>
            <a:r>
              <a:rPr lang="en-US" dirty="0"/>
              <a:t>CNN models are typically developed using Python as the main programming language. Popular deep learning frameworks include TensorFlow and </a:t>
            </a:r>
            <a:r>
              <a:rPr lang="en-US" dirty="0" err="1"/>
              <a:t>Keras</a:t>
            </a:r>
            <a:r>
              <a:rPr lang="en-US" dirty="0"/>
              <a:t>, which are widely used for building and training neural network models. </a:t>
            </a:r>
            <a:r>
              <a:rPr lang="en-US" dirty="0" err="1"/>
              <a:t>PyTorch</a:t>
            </a:r>
            <a:r>
              <a:rPr lang="en-US" dirty="0"/>
              <a:t> is another powerful framework commonly used in research and production. OpenCV is often used for image preprocessing and real-time computer vision tasks, while NumPy is used for handling numerical and multi-dimensional array operations.</a:t>
            </a:r>
          </a:p>
        </p:txBody>
      </p:sp>
      <p:pic>
        <p:nvPicPr>
          <p:cNvPr id="5" name="Picture 4">
            <a:extLst>
              <a:ext uri="{FF2B5EF4-FFF2-40B4-BE49-F238E27FC236}">
                <a16:creationId xmlns:a16="http://schemas.microsoft.com/office/drawing/2014/main" id="{6DC47262-381A-F6B7-0909-208FCC246437}"/>
              </a:ext>
            </a:extLst>
          </p:cNvPr>
          <p:cNvPicPr>
            <a:picLocks noChangeAspect="1"/>
          </p:cNvPicPr>
          <p:nvPr/>
        </p:nvPicPr>
        <p:blipFill>
          <a:blip r:embed="rId2"/>
          <a:stretch>
            <a:fillRect/>
          </a:stretch>
        </p:blipFill>
        <p:spPr>
          <a:xfrm>
            <a:off x="10261600" y="-161036"/>
            <a:ext cx="2521458" cy="1680972"/>
          </a:xfrm>
          <a:prstGeom prst="rect">
            <a:avLst/>
          </a:prstGeom>
        </p:spPr>
      </p:pic>
    </p:spTree>
    <p:extLst>
      <p:ext uri="{BB962C8B-B14F-4D97-AF65-F5344CB8AC3E}">
        <p14:creationId xmlns:p14="http://schemas.microsoft.com/office/powerpoint/2010/main" val="241969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sic CNN Architecture Explained: Key Layers and Workflow">
            <a:extLst>
              <a:ext uri="{FF2B5EF4-FFF2-40B4-BE49-F238E27FC236}">
                <a16:creationId xmlns:a16="http://schemas.microsoft.com/office/drawing/2014/main" id="{DE190ABA-5C28-2E9F-E271-4C0FE627E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600F954-3F7D-6509-8991-5145CDD74BE9}"/>
              </a:ext>
            </a:extLst>
          </p:cNvPr>
          <p:cNvPicPr>
            <a:picLocks noChangeAspect="1"/>
          </p:cNvPicPr>
          <p:nvPr/>
        </p:nvPicPr>
        <p:blipFill>
          <a:blip r:embed="rId3"/>
          <a:stretch>
            <a:fillRect/>
          </a:stretch>
        </p:blipFill>
        <p:spPr>
          <a:xfrm>
            <a:off x="10307254" y="-127322"/>
            <a:ext cx="2239703" cy="1493135"/>
          </a:xfrm>
          <a:prstGeom prst="rect">
            <a:avLst/>
          </a:prstGeom>
        </p:spPr>
      </p:pic>
    </p:spTree>
    <p:extLst>
      <p:ext uri="{BB962C8B-B14F-4D97-AF65-F5344CB8AC3E}">
        <p14:creationId xmlns:p14="http://schemas.microsoft.com/office/powerpoint/2010/main" val="225647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AFDCE5-9974-709D-63FC-37426CF4625F}"/>
              </a:ext>
            </a:extLst>
          </p:cNvPr>
          <p:cNvSpPr txBox="1"/>
          <p:nvPr/>
        </p:nvSpPr>
        <p:spPr>
          <a:xfrm>
            <a:off x="822960" y="126641"/>
            <a:ext cx="10954512" cy="6555641"/>
          </a:xfrm>
          <a:prstGeom prst="rect">
            <a:avLst/>
          </a:prstGeom>
          <a:noFill/>
        </p:spPr>
        <p:txBody>
          <a:bodyPr wrap="square">
            <a:spAutoFit/>
          </a:bodyPr>
          <a:lstStyle/>
          <a:p>
            <a:pPr>
              <a:buNone/>
            </a:pPr>
            <a:r>
              <a:rPr lang="en-US" sz="2400" b="1" dirty="0"/>
              <a:t>Core Components of CNN</a:t>
            </a:r>
          </a:p>
          <a:p>
            <a:pPr>
              <a:buNone/>
            </a:pPr>
            <a:r>
              <a:rPr lang="en-US" b="1" dirty="0">
                <a:solidFill>
                  <a:schemeClr val="bg1"/>
                </a:solidFill>
              </a:rPr>
              <a:t>1. Convolution Layer</a:t>
            </a:r>
          </a:p>
          <a:p>
            <a:pPr>
              <a:buNone/>
            </a:pPr>
            <a:r>
              <a:rPr lang="en-US" dirty="0"/>
              <a:t>The convolution layer is the main building block of a CNN. It uses filters (also called kernels) that slide over the input image to extract important features. These filters detect patterns such as edges, corners, and textures and generate feature maps.</a:t>
            </a:r>
          </a:p>
          <a:p>
            <a:pPr>
              <a:buNone/>
            </a:pPr>
            <a:br>
              <a:rPr lang="en-US" dirty="0"/>
            </a:br>
            <a:endParaRPr lang="en-US" dirty="0"/>
          </a:p>
          <a:p>
            <a:pPr>
              <a:buNone/>
            </a:pPr>
            <a:r>
              <a:rPr lang="en-US" b="1" dirty="0">
                <a:solidFill>
                  <a:schemeClr val="bg1"/>
                </a:solidFill>
              </a:rPr>
              <a:t>2. Activation Function Layer (</a:t>
            </a:r>
            <a:r>
              <a:rPr lang="en-US" b="1" dirty="0" err="1">
                <a:solidFill>
                  <a:schemeClr val="bg1"/>
                </a:solidFill>
              </a:rPr>
              <a:t>ReLU</a:t>
            </a:r>
            <a:r>
              <a:rPr lang="en-US" b="1" dirty="0">
                <a:solidFill>
                  <a:schemeClr val="bg1"/>
                </a:solidFill>
              </a:rPr>
              <a:t>)</a:t>
            </a:r>
          </a:p>
          <a:p>
            <a:pPr>
              <a:buNone/>
            </a:pPr>
            <a:r>
              <a:rPr lang="en-US" dirty="0"/>
              <a:t>After convolution, an activation function is applied. The most commonly used function is </a:t>
            </a:r>
            <a:r>
              <a:rPr lang="en-US" dirty="0" err="1"/>
              <a:t>ReLU</a:t>
            </a:r>
            <a:r>
              <a:rPr lang="en-US" dirty="0"/>
              <a:t> (Rectified Linear Unit).</a:t>
            </a:r>
          </a:p>
          <a:p>
            <a:pPr>
              <a:buNone/>
            </a:pPr>
            <a:r>
              <a:rPr lang="en-US" dirty="0"/>
              <a:t>Formula:</a:t>
            </a:r>
            <a:br>
              <a:rPr lang="en-US" dirty="0"/>
            </a:br>
            <a:r>
              <a:rPr lang="en-US" dirty="0"/>
              <a:t>f(x) = max(0, x)</a:t>
            </a:r>
          </a:p>
          <a:p>
            <a:pPr>
              <a:buNone/>
            </a:pPr>
            <a:r>
              <a:rPr lang="en-US" dirty="0" err="1"/>
              <a:t>ReLU</a:t>
            </a:r>
            <a:r>
              <a:rPr lang="en-US" dirty="0"/>
              <a:t> removes negative values and introduces non-linearity, allowing the network to learn complex patterns.</a:t>
            </a:r>
          </a:p>
          <a:p>
            <a:pPr>
              <a:buNone/>
            </a:pPr>
            <a:br>
              <a:rPr lang="en-US" dirty="0"/>
            </a:br>
            <a:endParaRPr lang="en-US" dirty="0"/>
          </a:p>
          <a:p>
            <a:pPr>
              <a:buNone/>
            </a:pPr>
            <a:r>
              <a:rPr lang="en-US" b="1" dirty="0">
                <a:solidFill>
                  <a:schemeClr val="bg1"/>
                </a:solidFill>
              </a:rPr>
              <a:t>3. Pooling Layer</a:t>
            </a:r>
          </a:p>
          <a:p>
            <a:pPr>
              <a:buNone/>
            </a:pPr>
            <a:r>
              <a:rPr lang="en-US" dirty="0"/>
              <a:t>The pooling layer reduces the spatial size of the feature maps. This decreases computation and helps prevent overfitting.</a:t>
            </a:r>
          </a:p>
          <a:p>
            <a:pPr>
              <a:buNone/>
            </a:pPr>
            <a:r>
              <a:rPr lang="en-US" dirty="0"/>
              <a:t>The most common type is Max Pooling, which selects the maximum value from a region.</a:t>
            </a:r>
          </a:p>
          <a:p>
            <a:pPr>
              <a:buNone/>
            </a:pPr>
            <a:br>
              <a:rPr lang="en-US" dirty="0"/>
            </a:br>
            <a:endParaRPr lang="en-US" dirty="0">
              <a:solidFill>
                <a:schemeClr val="bg1"/>
              </a:solidFill>
            </a:endParaRPr>
          </a:p>
          <a:p>
            <a:pPr>
              <a:buNone/>
            </a:pPr>
            <a:r>
              <a:rPr lang="en-US" b="1" dirty="0">
                <a:solidFill>
                  <a:schemeClr val="bg1"/>
                </a:solidFill>
              </a:rPr>
              <a:t>4. Fully Connected Layer</a:t>
            </a:r>
          </a:p>
          <a:p>
            <a:pPr>
              <a:buNone/>
            </a:pPr>
            <a:r>
              <a:rPr lang="en-US" dirty="0"/>
              <a:t>The fully connected layer is the final layer of the CNN. It connects all extracted features and produces the final classification output (for example, Dog or Cat).</a:t>
            </a:r>
          </a:p>
        </p:txBody>
      </p:sp>
      <p:pic>
        <p:nvPicPr>
          <p:cNvPr id="5" name="Picture 4">
            <a:extLst>
              <a:ext uri="{FF2B5EF4-FFF2-40B4-BE49-F238E27FC236}">
                <a16:creationId xmlns:a16="http://schemas.microsoft.com/office/drawing/2014/main" id="{3387055C-C0FF-1CBC-50D5-980C294438FB}"/>
              </a:ext>
            </a:extLst>
          </p:cNvPr>
          <p:cNvPicPr>
            <a:picLocks noChangeAspect="1"/>
          </p:cNvPicPr>
          <p:nvPr/>
        </p:nvPicPr>
        <p:blipFill>
          <a:blip r:embed="rId2"/>
          <a:stretch>
            <a:fillRect/>
          </a:stretch>
        </p:blipFill>
        <p:spPr>
          <a:xfrm>
            <a:off x="10525760" y="-208280"/>
            <a:ext cx="2245360" cy="1496907"/>
          </a:xfrm>
          <a:prstGeom prst="rect">
            <a:avLst/>
          </a:prstGeom>
        </p:spPr>
      </p:pic>
    </p:spTree>
    <p:extLst>
      <p:ext uri="{BB962C8B-B14F-4D97-AF65-F5344CB8AC3E}">
        <p14:creationId xmlns:p14="http://schemas.microsoft.com/office/powerpoint/2010/main" val="4017470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BE8F99-5D92-CB9F-5F46-CC038504E555}"/>
              </a:ext>
            </a:extLst>
          </p:cNvPr>
          <p:cNvSpPr txBox="1"/>
          <p:nvPr/>
        </p:nvSpPr>
        <p:spPr>
          <a:xfrm>
            <a:off x="356616" y="386080"/>
            <a:ext cx="11835384" cy="5909310"/>
          </a:xfrm>
          <a:prstGeom prst="rect">
            <a:avLst/>
          </a:prstGeom>
          <a:noFill/>
        </p:spPr>
        <p:txBody>
          <a:bodyPr wrap="square">
            <a:spAutoFit/>
          </a:bodyPr>
          <a:lstStyle/>
          <a:p>
            <a:pPr>
              <a:buNone/>
            </a:pPr>
            <a:r>
              <a:rPr lang="en-US" b="1" dirty="0"/>
              <a:t>Training Process in CNN</a:t>
            </a:r>
          </a:p>
          <a:p>
            <a:pPr>
              <a:buNone/>
            </a:pPr>
            <a:r>
              <a:rPr lang="en-US" b="1" dirty="0">
                <a:solidFill>
                  <a:schemeClr val="bg1"/>
                </a:solidFill>
              </a:rPr>
              <a:t>1. Data Propagation</a:t>
            </a:r>
          </a:p>
          <a:p>
            <a:pPr>
              <a:buNone/>
            </a:pPr>
            <a:r>
              <a:rPr lang="en-US" dirty="0"/>
              <a:t>In this step, labeled training images are collected and converted into numerical pixel values. The data is then fed into the CNN model for learning.</a:t>
            </a:r>
          </a:p>
          <a:p>
            <a:pPr>
              <a:buNone/>
            </a:pPr>
            <a:endParaRPr lang="en-US" dirty="0"/>
          </a:p>
          <a:p>
            <a:pPr>
              <a:buNone/>
            </a:pPr>
            <a:r>
              <a:rPr lang="en-US" b="1" dirty="0">
                <a:solidFill>
                  <a:schemeClr val="bg1"/>
                </a:solidFill>
              </a:rPr>
              <a:t>2. Forward Path</a:t>
            </a:r>
          </a:p>
          <a:p>
            <a:pPr>
              <a:buNone/>
            </a:pPr>
            <a:r>
              <a:rPr lang="en-US" dirty="0"/>
              <a:t>The input data moves forward through all layers:</a:t>
            </a:r>
            <a:br>
              <a:rPr lang="en-US" dirty="0"/>
            </a:br>
            <a:r>
              <a:rPr lang="en-US" dirty="0"/>
              <a:t>Convolution → </a:t>
            </a:r>
            <a:r>
              <a:rPr lang="en-US" dirty="0" err="1"/>
              <a:t>ReLU</a:t>
            </a:r>
            <a:r>
              <a:rPr lang="en-US" dirty="0"/>
              <a:t> → Pooling → Fully Connected Layer.</a:t>
            </a:r>
          </a:p>
          <a:p>
            <a:pPr>
              <a:buNone/>
            </a:pPr>
            <a:r>
              <a:rPr lang="en-US" dirty="0"/>
              <a:t>The network generates a prediction based on current weights.</a:t>
            </a:r>
          </a:p>
          <a:p>
            <a:pPr>
              <a:buNone/>
            </a:pPr>
            <a:endParaRPr lang="en-US" dirty="0"/>
          </a:p>
          <a:p>
            <a:pPr>
              <a:buNone/>
            </a:pPr>
            <a:r>
              <a:rPr lang="en-US" b="1" dirty="0">
                <a:solidFill>
                  <a:schemeClr val="bg1"/>
                </a:solidFill>
              </a:rPr>
              <a:t>3. Loss Calculation</a:t>
            </a:r>
          </a:p>
          <a:p>
            <a:pPr>
              <a:buNone/>
            </a:pPr>
            <a:r>
              <a:rPr lang="en-US" dirty="0"/>
              <a:t>The predicted output is compared with the actual label using a Loss Function (such as Cross-Entropy).</a:t>
            </a:r>
          </a:p>
          <a:p>
            <a:pPr>
              <a:buNone/>
            </a:pPr>
            <a:r>
              <a:rPr lang="en-US" dirty="0"/>
              <a:t>Loss measures how far the prediction is from the correct answer.</a:t>
            </a:r>
          </a:p>
          <a:p>
            <a:pPr>
              <a:buNone/>
            </a:pPr>
            <a:endParaRPr lang="en-US" dirty="0"/>
          </a:p>
          <a:p>
            <a:pPr>
              <a:buNone/>
            </a:pPr>
            <a:r>
              <a:rPr lang="en-US" b="1" dirty="0">
                <a:solidFill>
                  <a:schemeClr val="bg1"/>
                </a:solidFill>
              </a:rPr>
              <a:t>4. Backpropagation</a:t>
            </a:r>
          </a:p>
          <a:p>
            <a:pPr>
              <a:buNone/>
            </a:pPr>
            <a:r>
              <a:rPr lang="en-US" dirty="0"/>
              <a:t>The error is sent backward through the network. Using the Chain Rule, gradients are calculated to determine how much each weight contributed to the error.</a:t>
            </a:r>
          </a:p>
          <a:p>
            <a:pPr>
              <a:buNone/>
            </a:pPr>
            <a:endParaRPr lang="en-US" dirty="0"/>
          </a:p>
          <a:p>
            <a:pPr>
              <a:buNone/>
            </a:pPr>
            <a:r>
              <a:rPr lang="en-US" b="1" dirty="0">
                <a:solidFill>
                  <a:schemeClr val="bg1"/>
                </a:solidFill>
              </a:rPr>
              <a:t>5. Optimization</a:t>
            </a:r>
          </a:p>
          <a:p>
            <a:pPr>
              <a:buNone/>
            </a:pPr>
            <a:r>
              <a:rPr lang="en-US" dirty="0"/>
              <a:t>An optimization algorithm (such as SGD or Adam) updates the weights to reduce the loss.</a:t>
            </a:r>
          </a:p>
          <a:p>
            <a:pPr>
              <a:buNone/>
            </a:pPr>
            <a:r>
              <a:rPr lang="en-US" dirty="0"/>
              <a:t>This process repeats for many iterations until the model improves.</a:t>
            </a:r>
          </a:p>
        </p:txBody>
      </p:sp>
      <p:pic>
        <p:nvPicPr>
          <p:cNvPr id="5" name="Picture 4">
            <a:extLst>
              <a:ext uri="{FF2B5EF4-FFF2-40B4-BE49-F238E27FC236}">
                <a16:creationId xmlns:a16="http://schemas.microsoft.com/office/drawing/2014/main" id="{1F2AB6EA-29E2-A754-B989-3E327C56D6FD}"/>
              </a:ext>
            </a:extLst>
          </p:cNvPr>
          <p:cNvPicPr>
            <a:picLocks noChangeAspect="1"/>
          </p:cNvPicPr>
          <p:nvPr/>
        </p:nvPicPr>
        <p:blipFill>
          <a:blip r:embed="rId2"/>
          <a:stretch>
            <a:fillRect/>
          </a:stretch>
        </p:blipFill>
        <p:spPr>
          <a:xfrm>
            <a:off x="10457180" y="-233680"/>
            <a:ext cx="2377440" cy="1584960"/>
          </a:xfrm>
          <a:prstGeom prst="rect">
            <a:avLst/>
          </a:prstGeom>
        </p:spPr>
      </p:pic>
    </p:spTree>
    <p:extLst>
      <p:ext uri="{BB962C8B-B14F-4D97-AF65-F5344CB8AC3E}">
        <p14:creationId xmlns:p14="http://schemas.microsoft.com/office/powerpoint/2010/main" val="464775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90CC9A-9986-203A-D5D3-11F7D4E41B95}"/>
              </a:ext>
            </a:extLst>
          </p:cNvPr>
          <p:cNvSpPr txBox="1"/>
          <p:nvPr/>
        </p:nvSpPr>
        <p:spPr>
          <a:xfrm>
            <a:off x="4525701" y="763929"/>
            <a:ext cx="4074289" cy="4801314"/>
          </a:xfrm>
          <a:prstGeom prst="rect">
            <a:avLst/>
          </a:prstGeom>
          <a:noFill/>
        </p:spPr>
        <p:txBody>
          <a:bodyPr wrap="square">
            <a:spAutoFit/>
          </a:bodyPr>
          <a:lstStyle/>
          <a:p>
            <a:r>
              <a:rPr lang="en-IN" dirty="0"/>
              <a:t> Input Data (Images)</a:t>
            </a:r>
          </a:p>
          <a:p>
            <a:r>
              <a:rPr lang="en-IN" dirty="0"/>
              <a:t>                ↓</a:t>
            </a:r>
          </a:p>
          <a:p>
            <a:r>
              <a:rPr lang="en-IN" dirty="0"/>
              <a:t>        Forward Pass</a:t>
            </a:r>
          </a:p>
          <a:p>
            <a:r>
              <a:rPr lang="en-IN" dirty="0"/>
              <a:t> (Conv → </a:t>
            </a:r>
            <a:r>
              <a:rPr lang="en-IN" dirty="0" err="1"/>
              <a:t>ReLU</a:t>
            </a:r>
            <a:r>
              <a:rPr lang="en-IN" dirty="0"/>
              <a:t> → Pool → FC)</a:t>
            </a:r>
          </a:p>
          <a:p>
            <a:r>
              <a:rPr lang="en-IN" dirty="0"/>
              <a:t>                ↓</a:t>
            </a:r>
          </a:p>
          <a:p>
            <a:r>
              <a:rPr lang="en-IN" dirty="0"/>
              <a:t>        Prediction Output</a:t>
            </a:r>
          </a:p>
          <a:p>
            <a:r>
              <a:rPr lang="en-IN" dirty="0"/>
              <a:t>                ↓</a:t>
            </a:r>
          </a:p>
          <a:p>
            <a:r>
              <a:rPr lang="en-IN" dirty="0"/>
              <a:t>        Loss Calculation</a:t>
            </a:r>
          </a:p>
          <a:p>
            <a:r>
              <a:rPr lang="en-IN" dirty="0"/>
              <a:t> (Compare with Actual Label)</a:t>
            </a:r>
          </a:p>
          <a:p>
            <a:r>
              <a:rPr lang="en-IN" dirty="0"/>
              <a:t>                ↓</a:t>
            </a:r>
          </a:p>
          <a:p>
            <a:r>
              <a:rPr lang="en-IN" dirty="0"/>
              <a:t>        Backpropagation</a:t>
            </a:r>
          </a:p>
          <a:p>
            <a:r>
              <a:rPr lang="en-IN" dirty="0"/>
              <a:t>   (Error Sent Backward)</a:t>
            </a:r>
          </a:p>
          <a:p>
            <a:r>
              <a:rPr lang="en-IN" dirty="0"/>
              <a:t>                ↓</a:t>
            </a:r>
          </a:p>
          <a:p>
            <a:r>
              <a:rPr lang="en-IN" dirty="0"/>
              <a:t>        Optimization</a:t>
            </a:r>
          </a:p>
          <a:p>
            <a:r>
              <a:rPr lang="en-IN" dirty="0"/>
              <a:t>     (Update Weights)</a:t>
            </a:r>
          </a:p>
          <a:p>
            <a:r>
              <a:rPr lang="en-IN" dirty="0"/>
              <a:t>                ↓</a:t>
            </a:r>
          </a:p>
          <a:p>
            <a:r>
              <a:rPr lang="en-IN" dirty="0"/>
              <a:t>            Repeat</a:t>
            </a:r>
          </a:p>
        </p:txBody>
      </p:sp>
      <p:pic>
        <p:nvPicPr>
          <p:cNvPr id="5" name="Picture 4">
            <a:extLst>
              <a:ext uri="{FF2B5EF4-FFF2-40B4-BE49-F238E27FC236}">
                <a16:creationId xmlns:a16="http://schemas.microsoft.com/office/drawing/2014/main" id="{91F3B007-E6AB-98CF-074A-ED4EB105B17C}"/>
              </a:ext>
            </a:extLst>
          </p:cNvPr>
          <p:cNvPicPr>
            <a:picLocks noChangeAspect="1"/>
          </p:cNvPicPr>
          <p:nvPr/>
        </p:nvPicPr>
        <p:blipFill>
          <a:blip r:embed="rId2"/>
          <a:stretch>
            <a:fillRect/>
          </a:stretch>
        </p:blipFill>
        <p:spPr>
          <a:xfrm>
            <a:off x="10050202" y="-173621"/>
            <a:ext cx="2812649" cy="1875099"/>
          </a:xfrm>
          <a:prstGeom prst="rect">
            <a:avLst/>
          </a:prstGeom>
        </p:spPr>
      </p:pic>
    </p:spTree>
    <p:extLst>
      <p:ext uri="{BB962C8B-B14F-4D97-AF65-F5344CB8AC3E}">
        <p14:creationId xmlns:p14="http://schemas.microsoft.com/office/powerpoint/2010/main" val="3728155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EF19D4-7ADE-7706-F057-3FEA2EA2057B}"/>
              </a:ext>
            </a:extLst>
          </p:cNvPr>
          <p:cNvSpPr txBox="1"/>
          <p:nvPr/>
        </p:nvSpPr>
        <p:spPr>
          <a:xfrm>
            <a:off x="7510298" y="0"/>
            <a:ext cx="4156983" cy="6186309"/>
          </a:xfrm>
          <a:prstGeom prst="rect">
            <a:avLst/>
          </a:prstGeom>
          <a:noFill/>
        </p:spPr>
        <p:txBody>
          <a:bodyPr wrap="square">
            <a:spAutoFit/>
          </a:bodyPr>
          <a:lstStyle/>
          <a:p>
            <a:r>
              <a:rPr lang="en-IN" dirty="0"/>
              <a:t>import cv2</a:t>
            </a:r>
          </a:p>
          <a:p>
            <a:endParaRPr lang="en-IN" dirty="0"/>
          </a:p>
          <a:p>
            <a:r>
              <a:rPr lang="en-IN" dirty="0"/>
              <a:t># Start webcam</a:t>
            </a:r>
          </a:p>
          <a:p>
            <a:r>
              <a:rPr lang="en-IN" dirty="0"/>
              <a:t>cap = cv2.VideoCapture(0)</a:t>
            </a:r>
          </a:p>
          <a:p>
            <a:endParaRPr lang="en-IN" dirty="0"/>
          </a:p>
          <a:p>
            <a:r>
              <a:rPr lang="en-IN" dirty="0"/>
              <a:t>while True:</a:t>
            </a:r>
          </a:p>
          <a:p>
            <a:r>
              <a:rPr lang="en-IN" dirty="0"/>
              <a:t>    ret, frame = </a:t>
            </a:r>
            <a:r>
              <a:rPr lang="en-IN" dirty="0" err="1"/>
              <a:t>cap.read</a:t>
            </a:r>
            <a:r>
              <a:rPr lang="en-IN" dirty="0"/>
              <a:t>()</a:t>
            </a:r>
          </a:p>
          <a:p>
            <a:r>
              <a:rPr lang="en-IN" dirty="0"/>
              <a:t>    if not ret:</a:t>
            </a:r>
          </a:p>
          <a:p>
            <a:r>
              <a:rPr lang="en-IN" dirty="0"/>
              <a:t>        break</a:t>
            </a:r>
          </a:p>
          <a:p>
            <a:r>
              <a:rPr lang="en-IN" dirty="0"/>
              <a:t>    # Green box coordinates</a:t>
            </a:r>
          </a:p>
          <a:p>
            <a:r>
              <a:rPr lang="en-IN" dirty="0"/>
              <a:t>    </a:t>
            </a:r>
            <a:r>
              <a:rPr lang="en-IN" dirty="0" err="1"/>
              <a:t>start_point</a:t>
            </a:r>
            <a:r>
              <a:rPr lang="en-IN" dirty="0"/>
              <a:t> = (200, 150)</a:t>
            </a:r>
          </a:p>
          <a:p>
            <a:r>
              <a:rPr lang="en-IN" dirty="0"/>
              <a:t>    </a:t>
            </a:r>
            <a:r>
              <a:rPr lang="en-IN" dirty="0" err="1"/>
              <a:t>end_point</a:t>
            </a:r>
            <a:r>
              <a:rPr lang="en-IN" dirty="0"/>
              <a:t> = (450, 400)</a:t>
            </a:r>
          </a:p>
          <a:p>
            <a:r>
              <a:rPr lang="en-IN" dirty="0"/>
              <a:t>    </a:t>
            </a:r>
            <a:r>
              <a:rPr lang="en-IN" dirty="0" err="1"/>
              <a:t>color</a:t>
            </a:r>
            <a:r>
              <a:rPr lang="en-IN" dirty="0"/>
              <a:t> = (0, 255, 0)</a:t>
            </a:r>
          </a:p>
          <a:p>
            <a:r>
              <a:rPr lang="en-IN" dirty="0"/>
              <a:t>    thickness = 3</a:t>
            </a:r>
          </a:p>
          <a:p>
            <a:r>
              <a:rPr lang="en-IN" dirty="0"/>
              <a:t>    cv2.rectangle(frame, </a:t>
            </a:r>
            <a:r>
              <a:rPr lang="en-IN" dirty="0" err="1"/>
              <a:t>start_point</a:t>
            </a:r>
            <a:r>
              <a:rPr lang="en-IN" dirty="0"/>
              <a:t>, </a:t>
            </a:r>
            <a:r>
              <a:rPr lang="en-IN" dirty="0" err="1"/>
              <a:t>end_point</a:t>
            </a:r>
            <a:r>
              <a:rPr lang="en-IN" dirty="0"/>
              <a:t>, </a:t>
            </a:r>
            <a:r>
              <a:rPr lang="en-IN" dirty="0" err="1"/>
              <a:t>color</a:t>
            </a:r>
            <a:r>
              <a:rPr lang="en-IN" dirty="0"/>
              <a:t>, thickness)</a:t>
            </a:r>
          </a:p>
          <a:p>
            <a:r>
              <a:rPr lang="en-IN" dirty="0"/>
              <a:t>    cv2.imshow("Webcam - Press Q to Exit", frame)</a:t>
            </a:r>
          </a:p>
          <a:p>
            <a:r>
              <a:rPr lang="en-IN" dirty="0"/>
              <a:t>    if cv2.waitKey(1) &amp; 0xFF == </a:t>
            </a:r>
            <a:r>
              <a:rPr lang="en-IN" dirty="0" err="1"/>
              <a:t>ord</a:t>
            </a:r>
            <a:r>
              <a:rPr lang="en-IN" dirty="0"/>
              <a:t>('q'):</a:t>
            </a:r>
          </a:p>
          <a:p>
            <a:r>
              <a:rPr lang="en-IN" dirty="0"/>
              <a:t>        break</a:t>
            </a:r>
          </a:p>
          <a:p>
            <a:r>
              <a:rPr lang="en-IN" dirty="0" err="1"/>
              <a:t>cap.release</a:t>
            </a:r>
            <a:r>
              <a:rPr lang="en-IN" dirty="0"/>
              <a:t>()</a:t>
            </a:r>
          </a:p>
          <a:p>
            <a:r>
              <a:rPr lang="en-IN" dirty="0"/>
              <a:t>cv2.destroyAllWindows()</a:t>
            </a:r>
          </a:p>
        </p:txBody>
      </p:sp>
      <p:pic>
        <p:nvPicPr>
          <p:cNvPr id="5" name="Picture 4">
            <a:extLst>
              <a:ext uri="{FF2B5EF4-FFF2-40B4-BE49-F238E27FC236}">
                <a16:creationId xmlns:a16="http://schemas.microsoft.com/office/drawing/2014/main" id="{0F308FA0-B959-1581-B754-31A795B4C987}"/>
              </a:ext>
            </a:extLst>
          </p:cNvPr>
          <p:cNvPicPr>
            <a:picLocks noChangeAspect="1"/>
          </p:cNvPicPr>
          <p:nvPr/>
        </p:nvPicPr>
        <p:blipFill>
          <a:blip r:embed="rId2"/>
          <a:stretch>
            <a:fillRect/>
          </a:stretch>
        </p:blipFill>
        <p:spPr>
          <a:xfrm>
            <a:off x="10232500" y="-219920"/>
            <a:ext cx="2604306" cy="1736204"/>
          </a:xfrm>
          <a:prstGeom prst="rect">
            <a:avLst/>
          </a:prstGeom>
        </p:spPr>
      </p:pic>
      <p:sp>
        <p:nvSpPr>
          <p:cNvPr id="7" name="TextBox 6">
            <a:extLst>
              <a:ext uri="{FF2B5EF4-FFF2-40B4-BE49-F238E27FC236}">
                <a16:creationId xmlns:a16="http://schemas.microsoft.com/office/drawing/2014/main" id="{DA469C98-715E-3D25-662A-A655476B5463}"/>
              </a:ext>
            </a:extLst>
          </p:cNvPr>
          <p:cNvSpPr txBox="1"/>
          <p:nvPr/>
        </p:nvSpPr>
        <p:spPr>
          <a:xfrm>
            <a:off x="1365557" y="2215991"/>
            <a:ext cx="5417208" cy="1754326"/>
          </a:xfrm>
          <a:prstGeom prst="rect">
            <a:avLst/>
          </a:prstGeom>
          <a:noFill/>
        </p:spPr>
        <p:txBody>
          <a:bodyPr wrap="square">
            <a:spAutoFit/>
          </a:bodyPr>
          <a:lstStyle/>
          <a:p>
            <a:pPr>
              <a:buNone/>
            </a:pPr>
            <a:r>
              <a:rPr lang="en-US" b="1" dirty="0"/>
              <a:t>Live Demonstration – Real-Time Image Processing</a:t>
            </a:r>
          </a:p>
          <a:p>
            <a:pPr>
              <a:buNone/>
            </a:pPr>
            <a:r>
              <a:rPr lang="en-US" dirty="0"/>
              <a:t>To demonstrate basic image processing, we use OpenCV to capture live webcam frames and draw a green box on the screen.</a:t>
            </a:r>
          </a:p>
          <a:p>
            <a:pPr>
              <a:buNone/>
            </a:pPr>
            <a:r>
              <a:rPr lang="en-US" dirty="0"/>
              <a:t>This shows how image frames can be processed in real time, which is similar to how CNN models analyze images.</a:t>
            </a:r>
          </a:p>
        </p:txBody>
      </p:sp>
    </p:spTree>
    <p:extLst>
      <p:ext uri="{BB962C8B-B14F-4D97-AF65-F5344CB8AC3E}">
        <p14:creationId xmlns:p14="http://schemas.microsoft.com/office/powerpoint/2010/main" val="2030781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F01711-F762-49CE-0E24-0A5905870E3F}"/>
              </a:ext>
            </a:extLst>
          </p:cNvPr>
          <p:cNvSpPr txBox="1"/>
          <p:nvPr/>
        </p:nvSpPr>
        <p:spPr>
          <a:xfrm>
            <a:off x="4936602" y="1684644"/>
            <a:ext cx="6099858" cy="646331"/>
          </a:xfrm>
          <a:prstGeom prst="rect">
            <a:avLst/>
          </a:prstGeom>
          <a:noFill/>
        </p:spPr>
        <p:txBody>
          <a:bodyPr wrap="square">
            <a:spAutoFit/>
          </a:bodyPr>
          <a:lstStyle/>
          <a:p>
            <a:r>
              <a:rPr lang="en-IN" sz="3600" dirty="0"/>
              <a:t>Thank You</a:t>
            </a:r>
          </a:p>
        </p:txBody>
      </p:sp>
      <p:sp>
        <p:nvSpPr>
          <p:cNvPr id="5" name="TextBox 4">
            <a:extLst>
              <a:ext uri="{FF2B5EF4-FFF2-40B4-BE49-F238E27FC236}">
                <a16:creationId xmlns:a16="http://schemas.microsoft.com/office/drawing/2014/main" id="{1E8D24E3-48BF-67FA-74E8-CE3648A0D915}"/>
              </a:ext>
            </a:extLst>
          </p:cNvPr>
          <p:cNvSpPr txBox="1"/>
          <p:nvPr/>
        </p:nvSpPr>
        <p:spPr>
          <a:xfrm>
            <a:off x="3802283" y="2494873"/>
            <a:ext cx="6099858" cy="461665"/>
          </a:xfrm>
          <a:prstGeom prst="rect">
            <a:avLst/>
          </a:prstGeom>
          <a:noFill/>
        </p:spPr>
        <p:txBody>
          <a:bodyPr wrap="square">
            <a:spAutoFit/>
          </a:bodyPr>
          <a:lstStyle/>
          <a:p>
            <a:r>
              <a:rPr lang="en-US" sz="2400" dirty="0"/>
              <a:t>Thank You for Your Time and Attention</a:t>
            </a:r>
            <a:endParaRPr lang="en-IN" sz="2400" dirty="0"/>
          </a:p>
        </p:txBody>
      </p:sp>
      <p:sp>
        <p:nvSpPr>
          <p:cNvPr id="7" name="TextBox 6">
            <a:extLst>
              <a:ext uri="{FF2B5EF4-FFF2-40B4-BE49-F238E27FC236}">
                <a16:creationId xmlns:a16="http://schemas.microsoft.com/office/drawing/2014/main" id="{601E455D-7286-B5AC-0174-9F27DEAB09D6}"/>
              </a:ext>
            </a:extLst>
          </p:cNvPr>
          <p:cNvSpPr txBox="1"/>
          <p:nvPr/>
        </p:nvSpPr>
        <p:spPr>
          <a:xfrm>
            <a:off x="4033777" y="3120436"/>
            <a:ext cx="6099858" cy="646331"/>
          </a:xfrm>
          <a:prstGeom prst="rect">
            <a:avLst/>
          </a:prstGeom>
          <a:noFill/>
        </p:spPr>
        <p:txBody>
          <a:bodyPr wrap="square">
            <a:spAutoFit/>
          </a:bodyPr>
          <a:lstStyle/>
          <a:p>
            <a:r>
              <a:rPr lang="en-US" dirty="0"/>
              <a:t>I hope this presentation helped you understand</a:t>
            </a:r>
            <a:br>
              <a:rPr lang="en-US" dirty="0"/>
            </a:br>
            <a:r>
              <a:rPr lang="en-US" dirty="0"/>
              <a:t>how Convolutional Neural Networks work.</a:t>
            </a:r>
            <a:endParaRPr lang="en-IN" dirty="0"/>
          </a:p>
        </p:txBody>
      </p:sp>
      <p:sp>
        <p:nvSpPr>
          <p:cNvPr id="9" name="TextBox 8">
            <a:extLst>
              <a:ext uri="{FF2B5EF4-FFF2-40B4-BE49-F238E27FC236}">
                <a16:creationId xmlns:a16="http://schemas.microsoft.com/office/drawing/2014/main" id="{8299AD8C-B2FB-243F-2A63-F952045DEC25}"/>
              </a:ext>
            </a:extLst>
          </p:cNvPr>
          <p:cNvSpPr txBox="1"/>
          <p:nvPr/>
        </p:nvSpPr>
        <p:spPr>
          <a:xfrm>
            <a:off x="4635660" y="4294618"/>
            <a:ext cx="6099858" cy="523220"/>
          </a:xfrm>
          <a:prstGeom prst="rect">
            <a:avLst/>
          </a:prstGeom>
          <a:noFill/>
        </p:spPr>
        <p:txBody>
          <a:bodyPr wrap="square">
            <a:spAutoFit/>
          </a:bodyPr>
          <a:lstStyle/>
          <a:p>
            <a:r>
              <a:rPr lang="en-IN" sz="2800" dirty="0">
                <a:solidFill>
                  <a:srgbClr val="00B0F0"/>
                </a:solidFill>
                <a:highlight>
                  <a:srgbClr val="000000"/>
                </a:highlight>
              </a:rPr>
              <a:t>Infosys</a:t>
            </a:r>
            <a:r>
              <a:rPr lang="en-IN" sz="2800" dirty="0">
                <a:highlight>
                  <a:srgbClr val="000000"/>
                </a:highlight>
              </a:rPr>
              <a:t> </a:t>
            </a:r>
            <a:r>
              <a:rPr lang="en-IN" sz="2800" dirty="0">
                <a:solidFill>
                  <a:schemeClr val="accent3"/>
                </a:solidFill>
                <a:highlight>
                  <a:srgbClr val="000000"/>
                </a:highlight>
              </a:rPr>
              <a:t>springboard</a:t>
            </a:r>
          </a:p>
        </p:txBody>
      </p:sp>
      <p:pic>
        <p:nvPicPr>
          <p:cNvPr id="11" name="Picture 10">
            <a:extLst>
              <a:ext uri="{FF2B5EF4-FFF2-40B4-BE49-F238E27FC236}">
                <a16:creationId xmlns:a16="http://schemas.microsoft.com/office/drawing/2014/main" id="{310DD43C-269D-FE1C-F03D-E5384A6E903D}"/>
              </a:ext>
            </a:extLst>
          </p:cNvPr>
          <p:cNvPicPr>
            <a:picLocks noChangeAspect="1"/>
          </p:cNvPicPr>
          <p:nvPr/>
        </p:nvPicPr>
        <p:blipFill>
          <a:blip r:embed="rId2"/>
          <a:stretch>
            <a:fillRect/>
          </a:stretch>
        </p:blipFill>
        <p:spPr>
          <a:xfrm>
            <a:off x="10133635" y="-214002"/>
            <a:ext cx="2847969" cy="1898646"/>
          </a:xfrm>
          <a:prstGeom prst="rect">
            <a:avLst/>
          </a:prstGeom>
        </p:spPr>
      </p:pic>
    </p:spTree>
    <p:extLst>
      <p:ext uri="{BB962C8B-B14F-4D97-AF65-F5344CB8AC3E}">
        <p14:creationId xmlns:p14="http://schemas.microsoft.com/office/powerpoint/2010/main" val="15489282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{2DEFBBD2-8ADF-49F3-8ECA-809457E14989}TF6d5feb1e-e145-43f1-b745-cb4b54c5ee975d365c52-ce22229b0e48</Template>
  <TotalTime>38</TotalTime>
  <Words>845</Words>
  <Application>Microsoft Office PowerPoint</Application>
  <PresentationFormat>Widescreen</PresentationFormat>
  <Paragraphs>93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Ranjan</dc:creator>
  <cp:lastModifiedBy>Rohit Ranjan</cp:lastModifiedBy>
  <cp:revision>1</cp:revision>
  <dcterms:created xsi:type="dcterms:W3CDTF">2026-02-26T11:37:01Z</dcterms:created>
  <dcterms:modified xsi:type="dcterms:W3CDTF">2026-02-26T12:15:11Z</dcterms:modified>
</cp:coreProperties>
</file>